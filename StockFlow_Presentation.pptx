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StockFlow - Investor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University Business Plan Project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1: Title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StockFlow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Inventory Management Software</a:t>
            </a:r>
          </a:p>
          <a:p>
            <a:pPr lvl="0" indent="0" marL="0">
              <a:buNone/>
            </a:pPr>
            <a:r>
              <a:rPr b="1"/>
              <a:t>Business Plan Presentation</a:t>
            </a:r>
          </a:p>
          <a:p>
            <a:pPr lvl="0" indent="0" marL="0">
              <a:buNone/>
            </a:pPr>
            <a:r>
              <a:rPr/>
              <a:t>Student: [Your Name]</a:t>
            </a:r>
            <a:br/>
            <a:r>
              <a:rPr/>
              <a:t>Course: Entrepreneurship &amp; Business Development</a:t>
            </a:r>
            <a:br/>
            <a:r>
              <a:rPr/>
              <a:t>University: [University Name]</a:t>
            </a:r>
            <a:br/>
            <a:r>
              <a:rPr/>
              <a:t>Date: January 2024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2: Executive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Business Overview</a:t>
            </a:r>
          </a:p>
          <a:p>
            <a:pPr lvl="0" indent="0" marL="0">
              <a:buNone/>
            </a:pPr>
            <a:r>
              <a:rPr b="1"/>
              <a:t>Product:</a:t>
            </a:r>
            <a:r>
              <a:rPr/>
              <a:t> Cloud-based inventory management software</a:t>
            </a:r>
            <a:br/>
            <a:r>
              <a:rPr b="1"/>
              <a:t>Target Market:</a:t>
            </a:r>
            <a:r>
              <a:rPr/>
              <a:t> Small businesses and micro-retailers</a:t>
            </a:r>
            <a:br/>
            <a:r>
              <a:rPr b="1"/>
              <a:t>Business Model:</a:t>
            </a:r>
            <a:r>
              <a:rPr/>
              <a:t> Subscription-based SaaS</a:t>
            </a:r>
            <a:br/>
            <a:r>
              <a:rPr b="1"/>
              <a:t>Pricing:</a:t>
            </a:r>
            <a:r>
              <a:rPr/>
              <a:t> €9-49/month depending on tier</a:t>
            </a:r>
          </a:p>
          <a:p>
            <a:pPr lvl="0" indent="0" marL="0">
              <a:buNone/>
            </a:pPr>
            <a:r>
              <a:rPr b="1"/>
              <a:t>Key Objectives:</a:t>
            </a:r>
            <a:r>
              <a:rPr/>
              <a:t> - €66,000 ARR in Year 1 - 385 paying customers - 40% net profit margin - Scalable to €720,000 ARR by Year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3: Problem Statement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Market Challenge</a:t>
            </a:r>
          </a:p>
          <a:p>
            <a:pPr lvl="0" indent="0" marL="0">
              <a:buNone/>
            </a:pPr>
            <a:r>
              <a:rPr b="1"/>
              <a:t>Current Situation:</a:t>
            </a:r>
            <a:r>
              <a:rPr/>
              <a:t> - 60% of small businesses lack proper inventory systems - Manual tracking costs 8-15 hours per week - Existing software too expensive (€100-500/month) - Complex systems require extensive training</a:t>
            </a:r>
          </a:p>
          <a:p>
            <a:pPr lvl="0" indent="0" marL="0">
              <a:buNone/>
            </a:pPr>
            <a:r>
              <a:rPr b="1"/>
              <a:t>Impact:</a:t>
            </a:r>
            <a:r>
              <a:rPr/>
              <a:t> - 15% revenue lost to poor inventory management - €4,000-10,000 annual losses per business - Missed sales opportunities from stock</a:t>
            </a:r>
          </a:p>
          <a:p>
            <a:pPr lvl="0" indent="0" marL="0">
              <a:buNone/>
            </a:pPr>
            <a:r>
              <a:rPr/>
              <a:t>outs - Excessive capital tied in overstock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4: Solution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StockFlow Platform</a:t>
            </a:r>
          </a:p>
          <a:p>
            <a:pPr lvl="0" indent="0" marL="0">
              <a:buNone/>
            </a:pPr>
            <a:r>
              <a:rPr b="1"/>
              <a:t>Core Features:</a:t>
            </a:r>
            <a:r>
              <a:rPr/>
              <a:t> - Real-time inventory tracking - Automated low-stock alerts - Sales analytics and reporting - QR code generation - Multi-user access with role management - Mobile-responsive interface</a:t>
            </a:r>
          </a:p>
          <a:p>
            <a:pPr lvl="0" indent="0" marL="0">
              <a:buNone/>
            </a:pPr>
            <a:r>
              <a:rPr b="1"/>
              <a:t>Value Proposition:</a:t>
            </a:r>
            <a:br/>
            <a:r>
              <a:rPr/>
              <a:t>Enterprise-grade features at affordable pricing with immediate deployment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5: Market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Total Addressable Market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Global SMB Inventory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15M businesses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€12B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 &amp; North America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8M businesses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€2.4B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 Market (Initial)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500K businesses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€120M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Market Growth:</a:t>
            </a:r>
            <a:r>
              <a:rPr/>
              <a:t> 15% CAGR through 2028</a:t>
            </a:r>
          </a:p>
          <a:p>
            <a:pPr lvl="0" indent="0" marL="0">
              <a:buNone/>
            </a:pPr>
            <a:r>
              <a:rPr b="1"/>
              <a:t>Target Customers:</a:t>
            </a:r>
            <a:r>
              <a:rPr/>
              <a:t> - Micro-retailers and boutiques - Online marketplace sellers - Service businesses with equipment - Pop-up shops and event vendors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6: Competitive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Competitive Landscape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Weakness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Zoho Inventory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€49-149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interface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QuickBooks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€35-175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Accounting-focused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TradeGecko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€99-599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 expensive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Cin7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€299+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Overkill for SMBs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Competitive Advantage:</a:t>
            </a:r>
            <a:r>
              <a:rPr/>
              <a:t> - 76-97% lower pricing - Faster setup (minutes vs weeks) - Simpler interface - SMB-focused feature set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7: Business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Revenue Structure</a:t>
            </a:r>
          </a:p>
          <a:p>
            <a:pPr lvl="0" indent="0" marL="0">
              <a:buNone/>
            </a:pPr>
            <a:r>
              <a:rPr b="1"/>
              <a:t>Subscription Tiers: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€9/mo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items, 1 user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Individual sellers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Professional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€19/mo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 items, 5 users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teams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€49/mo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Unlimited, AI insights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Established businesses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White-label,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organizations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Revenue Streams:</a:t>
            </a:r>
            <a:r>
              <a:rPr/>
              <a:t> - Primary: Monthly subscriptions (90%) - Secondary: Add-ons and integrations (10%)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8: Financial Projections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Base Case: 137 Customers</a:t>
            </a:r>
          </a:p>
          <a:p>
            <a:pPr lvl="0" indent="0" marL="0">
              <a:buNone/>
            </a:pPr>
            <a:r>
              <a:rPr b="1"/>
              <a:t>€9/month Plan:</a:t>
            </a:r>
            <a:r>
              <a:rPr/>
              <a:t> - Annual Revenue: €14,796 - Annual Costs: €5,400 - Net Profit: €9,396 - Profit Margin: 63.5%</a:t>
            </a:r>
          </a:p>
          <a:p>
            <a:pPr lvl="0" indent="0" marL="0">
              <a:buNone/>
            </a:pPr>
            <a:r>
              <a:rPr b="1"/>
              <a:t>€19/month Plan:</a:t>
            </a:r>
            <a:r>
              <a:rPr/>
              <a:t> - Annual Revenue: €31,236 - Annual Costs: €5,400 - Net Profit: €25,836 - Profit Margin: 82.7%</a:t>
            </a:r>
          </a:p>
          <a:p>
            <a:pPr lvl="0" indent="0" marL="0">
              <a:buNone/>
            </a:pPr>
            <a:r>
              <a:rPr b="1"/>
              <a:t>Operating Costs:</a:t>
            </a:r>
            <a:r>
              <a:rPr/>
              <a:t> €450/month (€3.28 per customer)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9: Three-Year Forecast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Growth Projections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Margin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€66,180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€26,483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€280,000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€165,000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€720,000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€495,000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Assumptions:</a:t>
            </a:r>
            <a:r>
              <a:rPr/>
              <a:t> - Mixed pricing model (65% Starter, 25% Pro, 10% Business) - 5% monthly churn rate - €35 average customer acquisition cost - 18-month average customer lifetime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10: Unit Economics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Customer Metrics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 Benchmark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 (Customer Acquisition Cost)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€30-45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€50-150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LTV (Lifetime Value)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€300-500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€200-400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LTV:CAC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12:1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3:1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Gross Margin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75-83%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70-80%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Payback Period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12-18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 Churn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5-7%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Strong unit economics demonstrating business viability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11: Marketing Strategy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Customer Acquisition</a:t>
            </a:r>
          </a:p>
          <a:p>
            <a:pPr lvl="0" indent="0" marL="0">
              <a:buNone/>
            </a:pPr>
            <a:r>
              <a:rPr b="1"/>
              <a:t>Channel Mix:</a:t>
            </a:r>
            <a:r>
              <a:rPr/>
              <a:t> - Content Marketing &amp; SEO (40%) - Paid Advertising (35%) - Partnership Programs (15%) - Referral System (10%)</a:t>
            </a:r>
          </a:p>
          <a:p>
            <a:pPr lvl="0" indent="0" marL="0">
              <a:buNone/>
            </a:pPr>
            <a:r>
              <a:rPr b="1"/>
              <a:t>Timeline:</a:t>
            </a:r>
            <a:r>
              <a:rPr/>
              <a:t> - Months 1-6: Content and organic growth → 150 customers - Months 7-12: Paid acquisition → 385 customers - Year 2: Scaling → 1,200 customers - Year 3: Market expansion → 3,000 customers</a:t>
            </a:r>
          </a:p>
          <a:p>
            <a:pPr lvl="0" indent="0" marL="0">
              <a:buNone/>
            </a:pPr>
            <a:r>
              <a:rPr b="1"/>
              <a:t>Customer Acquisition Cost:</a:t>
            </a:r>
            <a:r>
              <a:rPr/>
              <a:t> €35 blended average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12: Operations Plan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Cost Structure</a:t>
            </a:r>
          </a:p>
          <a:p>
            <a:pPr lvl="0" indent="0" marL="0">
              <a:buNone/>
            </a:pPr>
            <a:r>
              <a:rPr b="1"/>
              <a:t>Monthly Operating Costs (€450):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€1,800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 &amp; 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€960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CDN &amp;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Development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€960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Scalability:</a:t>
            </a:r>
            <a:r>
              <a:rPr/>
              <a:t> Marginal cost per customer ≈ €1-2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13: Product Roadmap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Development Timeline</a:t>
            </a:r>
          </a:p>
          <a:p>
            <a:pPr lvl="0" indent="0" marL="0">
              <a:buNone/>
            </a:pPr>
            <a:r>
              <a:rPr b="1"/>
              <a:t>Phase 1 - MVP (Months 1-3):</a:t>
            </a:r>
            <a:r>
              <a:rPr/>
              <a:t> - Core inventory management - User authentication - Basic reporting</a:t>
            </a:r>
          </a:p>
          <a:p>
            <a:pPr lvl="0" indent="0" marL="0">
              <a:buNone/>
            </a:pPr>
            <a:r>
              <a:rPr b="1"/>
              <a:t>Phase 2 - Growth (Months 4-9):</a:t>
            </a:r>
            <a:r>
              <a:rPr/>
              <a:t> - QR code generation - Advanced analytics - API access</a:t>
            </a:r>
          </a:p>
          <a:p>
            <a:pPr lvl="0" indent="0" marL="0">
              <a:buNone/>
            </a:pPr>
            <a:r>
              <a:rPr b="1"/>
              <a:t>Phase 3 - Scale (Months 10-18):</a:t>
            </a:r>
            <a:r>
              <a:rPr/>
              <a:t> - AI demand forecasting - Mobile applications - E-commerce integrations</a:t>
            </a:r>
          </a:p>
          <a:p>
            <a:pPr lvl="0" indent="0" marL="0">
              <a:buNone/>
            </a:pPr>
            <a:r>
              <a:rPr b="1"/>
              <a:t>Future:</a:t>
            </a:r>
            <a:r>
              <a:rPr/>
              <a:t> IoT integration, blockchain tracking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14: Risk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Identified Risks &amp; Mitigation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churn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Focus on customer success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competitors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feature development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Slow adoption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Aggressive marketing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issues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Robust testing,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Funding 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Bootstrap-friendly model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Overall Risk:</a:t>
            </a:r>
            <a:r>
              <a:rPr/>
              <a:t> Low to medium, manageable through prudent execution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15: Funding Requirements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Investment Ask</a:t>
            </a:r>
          </a:p>
          <a:p>
            <a:pPr lvl="0" indent="0" marL="0">
              <a:buNone/>
            </a:pPr>
            <a:r>
              <a:rPr b="1"/>
              <a:t>Seeking:</a:t>
            </a:r>
            <a:r>
              <a:rPr/>
              <a:t> €250,000 Seed Funding</a:t>
            </a:r>
          </a:p>
          <a:p>
            <a:pPr lvl="0" indent="0" marL="0">
              <a:buNone/>
            </a:pPr>
            <a:r>
              <a:rPr b="1"/>
              <a:t>Use of Funds: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Percentage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Development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€100,000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 &amp; Sales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€100,000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€30,000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Capital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Runway:</a:t>
            </a:r>
            <a:r>
              <a:rPr/>
              <a:t> 18-24 months to profitability</a:t>
            </a:r>
          </a:p>
          <a:p>
            <a:pPr lvl="0" indent="0" marL="0">
              <a:buNone/>
            </a:pPr>
            <a:r>
              <a:rPr b="1"/>
              <a:t>Valuation:</a:t>
            </a:r>
            <a:r>
              <a:rPr/>
              <a:t> €1.5-2M pre-money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16: Team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Founding Team</a:t>
            </a:r>
          </a:p>
          <a:p>
            <a:pPr lvl="0" indent="0" marL="0">
              <a:buNone/>
            </a:pPr>
            <a:r>
              <a:rPr b="1"/>
              <a:t>Technical Lead:</a:t>
            </a:r>
            <a:r>
              <a:rPr/>
              <a:t> - 10+ years software development experience - Expertise: Full-stack development, cloud architecture - Previous: Senior engineer at established SaaS company</a:t>
            </a:r>
          </a:p>
          <a:p>
            <a:pPr lvl="0" indent="0" marL="0">
              <a:buNone/>
            </a:pPr>
            <a:r>
              <a:rPr b="1"/>
              <a:t>Business Lead:</a:t>
            </a:r>
            <a:r>
              <a:rPr/>
              <a:t> - 8+ years in B2B sales and marketing - Expertise: Go-to-market strategy, customer acquisition - Previous: Head of growth at startup</a:t>
            </a:r>
          </a:p>
          <a:p>
            <a:pPr lvl="0" indent="0" marL="0">
              <a:buNone/>
            </a:pPr>
            <a:r>
              <a:rPr b="1"/>
              <a:t>Advisors:</a:t>
            </a:r>
            <a:r>
              <a:rPr/>
              <a:t> - Industry expert from retail technology sector - Finance advisor with VC background - Technical advisor from successful startup exit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17: Milestones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Achievements &amp; Targets</a:t>
            </a:r>
          </a:p>
          <a:p>
            <a:pPr lvl="0" indent="0" marL="0">
              <a:buNone/>
            </a:pPr>
            <a:r>
              <a:rPr b="1"/>
              <a:t>Completed:</a:t>
            </a:r>
            <a:r>
              <a:rPr/>
              <a:t> - ✓ Market research and validation - ✓ Technical architecture design - ✓ MVP development</a:t>
            </a:r>
          </a:p>
          <a:p>
            <a:pPr lvl="0" indent="0" marL="0">
              <a:buNone/>
            </a:pPr>
            <a:r>
              <a:rPr b="1"/>
              <a:t>12-Month Targets:</a:t>
            </a:r>
            <a:r>
              <a:rPr/>
              <a:t> - Month 2: Break-even (50 customers) - Month 3: Profitable operations - Month 6: 150 customers, €2,250 MRR - Month 12: 385 customers, €5,515 MRR</a:t>
            </a:r>
          </a:p>
          <a:p>
            <a:pPr lvl="0" indent="0" marL="0">
              <a:buNone/>
            </a:pPr>
            <a:r>
              <a:rPr b="1"/>
              <a:t>24-Month Target:</a:t>
            </a:r>
            <a:r>
              <a:rPr/>
              <a:t> €400,000 ARR, Series A ready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18: Success Metrics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Performance Indicators</a:t>
            </a:r>
          </a:p>
          <a:p>
            <a:pPr lvl="0" indent="0" marL="0">
              <a:buNone/>
            </a:pPr>
            <a:r>
              <a:rPr b="1"/>
              <a:t>Financial Metrics:</a:t>
            </a:r>
            <a:r>
              <a:rPr/>
              <a:t> - Monthly Recurring Revenue (MRR) - Annual Recurring Revenue (ARR) - Customer Acquisition Cost (CAC) - Lifetime Value (LTV) - Gross and net profit margins</a:t>
            </a:r>
          </a:p>
          <a:p>
            <a:pPr lvl="0" indent="0" marL="0">
              <a:buNone/>
            </a:pPr>
            <a:r>
              <a:rPr b="1"/>
              <a:t>Operational Metrics:</a:t>
            </a:r>
            <a:r>
              <a:rPr/>
              <a:t> - Customer count by tier - Monthly churn rate - Customer satisfaction score - Net Promoter Score (NPS) - Feature adoption rates</a:t>
            </a:r>
          </a:p>
          <a:p>
            <a:pPr lvl="0" indent="0" marL="0">
              <a:buNone/>
            </a:pPr>
            <a:r>
              <a:rPr b="1"/>
              <a:t>Target:</a:t>
            </a:r>
            <a:r>
              <a:rPr/>
              <a:t> Positive unit economics from Month 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19: Exit Strategy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Liquidity Options</a:t>
            </a:r>
          </a:p>
          <a:p>
            <a:pPr lvl="0" indent="0" marL="0">
              <a:buNone/>
            </a:pPr>
            <a:r>
              <a:rPr b="1"/>
              <a:t>Primary: Acquisition (3-5 years)</a:t>
            </a:r>
            <a:r>
              <a:rPr/>
              <a:t> - Potential acquirers: Shopify, Square, Intuit - Valuation multiple: 8-12x ARR - Target: €40-60M exit at €5M ARR</a:t>
            </a:r>
          </a:p>
          <a:p>
            <a:pPr lvl="0" indent="0" marL="0">
              <a:buNone/>
            </a:pPr>
            <a:r>
              <a:rPr b="1"/>
              <a:t>Secondary: Sustainable Business</a:t>
            </a:r>
            <a:r>
              <a:rPr/>
              <a:t> - Dividend-generating profitable entity - €5-10M annual profit potential - No exit required</a:t>
            </a:r>
          </a:p>
          <a:p>
            <a:pPr lvl="0" indent="0" marL="0">
              <a:buNone/>
            </a:pPr>
            <a:r>
              <a:rPr b="1"/>
              <a:t>Timeline:</a:t>
            </a:r>
            <a:r>
              <a:rPr/>
              <a:t> Flexible based on market conditions and team preference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20: Conclusion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Investment Highlights</a:t>
            </a:r>
          </a:p>
          <a:p>
            <a:pPr lvl="0" indent="0" marL="0">
              <a:buNone/>
            </a:pPr>
            <a:r>
              <a:rPr b="1"/>
              <a:t>Why StockFlow:</a:t>
            </a:r>
            <a:r>
              <a:rPr/>
              <a:t> - Large, underserved market (€12B TAM) - Proven unit economics (63-83% margins) - Fast path to profitability (Month 3) - Strong competitive positioning - Scalable business model - Experienced team</a:t>
            </a:r>
          </a:p>
          <a:p>
            <a:pPr lvl="0" indent="0" marL="0">
              <a:buNone/>
            </a:pPr>
            <a:r>
              <a:rPr b="1"/>
              <a:t>Opportunity:</a:t>
            </a:r>
            <a:r>
              <a:rPr/>
              <a:t> €250,000 investment for 12-15% equity</a:t>
            </a:r>
          </a:p>
          <a:p>
            <a:pPr lvl="0" indent="0" marL="0">
              <a:buNone/>
            </a:pPr>
            <a:r>
              <a:rPr b="1"/>
              <a:t>Return Potential:</a:t>
            </a:r>
            <a:r>
              <a:rPr/>
              <a:t> 10-20x in 4-6 years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21: Next Steps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Call to Action</a:t>
            </a:r>
          </a:p>
          <a:p>
            <a:pPr lvl="0" indent="0" marL="0">
              <a:buNone/>
            </a:pPr>
            <a:r>
              <a:rPr b="1"/>
              <a:t>Immediate Actions:</a:t>
            </a:r>
            <a:r>
              <a:rPr/>
              <a:t> - Review financial model and projections - Conduct due diligence - Meet with founding team - Review technical infrastructure</a:t>
            </a:r>
          </a:p>
          <a:p>
            <a:pPr lvl="0" indent="0" marL="0">
              <a:buNone/>
            </a:pPr>
            <a:r>
              <a:rPr b="1"/>
              <a:t>Timeline:</a:t>
            </a:r>
            <a:r>
              <a:rPr/>
              <a:t> - Week 1-2: Due diligence - Week 3: Term sheet negotiation - Week 4: Legal documentation - Month 2: Funding deployment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founders@stockflow.com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22: Appendix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Information</a:t>
            </a:r>
          </a:p>
          <a:p>
            <a:pPr lvl="0" indent="0" marL="0">
              <a:buNone/>
            </a:pPr>
            <a:r>
              <a:rPr b="1"/>
              <a:t>Documents Available:</a:t>
            </a:r>
            <a:r>
              <a:rPr/>
              <a:t> - Detailed financial model (Excel) - Technical architecture documentation - Market research reports - Customer validation interviews - Competitive analysis matrix - Product roadmap details</a:t>
            </a:r>
          </a:p>
          <a:p>
            <a:pPr lvl="0" indent="0" marL="0">
              <a:buNone/>
            </a:pPr>
            <a:r>
              <a:rPr b="1"/>
              <a:t>References:</a:t>
            </a:r>
            <a:r>
              <a:rPr/>
              <a:t> - Industry reports (Gartner, Forrester) - Market sizing methodology - Financial projection assumptions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23: Questions &amp; Discussion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indent="0" marL="0">
              <a:buNone/>
            </a:pPr>
            <a:r>
              <a:rPr b="1"/>
              <a:t>StockFlow</a:t>
            </a:r>
            <a:br/>
            <a:r>
              <a:rPr/>
              <a:t>Inventory Management for Modern Businesses</a:t>
            </a:r>
          </a:p>
          <a:p>
            <a:pPr lvl="0" indent="0" marL="0">
              <a:buNone/>
            </a:pPr>
            <a:r>
              <a:rPr b="1"/>
              <a:t>Contact Information:</a:t>
            </a:r>
            <a:br/>
            <a:r>
              <a:rPr/>
              <a:t>Email: founders@stockflow.com</a:t>
            </a:r>
            <a:br/>
            <a:r>
              <a:rPr/>
              <a:t>Phone: [Contact Number]</a:t>
            </a:r>
            <a:br/>
            <a:r>
              <a:rPr/>
              <a:t>Website: www.stockflow.com</a:t>
            </a:r>
          </a:p>
          <a:p>
            <a:pPr lvl="0" indent="0" marL="0">
              <a:buNone/>
            </a:pPr>
            <a:r>
              <a:rPr i="1"/>
              <a:t>This presentation is part of an academic business plan project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2026-01-22T14:40:02Z</dcterms:created>
  <dcterms:modified xsi:type="dcterms:W3CDTF">2026-01-22T14:40:02Z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