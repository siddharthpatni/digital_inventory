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ockflow_logo_1769114192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371600" cy="1371600"/>
          </a:xfrm>
          <a:prstGeom prst="rect">
            <a:avLst/>
          </a:prstGeom>
        </p:spPr>
      </p:pic>
      <p:pic>
        <p:nvPicPr>
          <p:cNvPr id="3" name="Picture 2" descr="inventory_dashboard_hero_17691137499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" y="2560320"/>
            <a:ext cx="45720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bIns="274320" lIns="365760" rIns="365760"/>
          <a:lstStyle/>
          <a:p>
            <a:pPr algn="ctr">
              <a:spcAft>
                <a:spcPts val="600"/>
              </a:spcAft>
              <a:defRPr sz="4400" b="1">
                <a:solidFill>
                  <a:srgbClr val="2563EB"/>
                </a:solidFill>
              </a:defRPr>
            </a:pPr>
            <a:r>
              <a:t>StockFlow</a:t>
            </a:r>
          </a:p>
          <a:p>
            <a:pPr>
              <a:spcAft>
                <a:spcPts val="200"/>
              </a:spcAft>
              <a:defRPr sz="2000">
                <a:solidFill>
                  <a:srgbClr val="0F172A"/>
                </a:solidFill>
              </a:defRPr>
            </a:pPr>
            <a:r>
              <a:t>Inventory Management</a:t>
            </a:r>
          </a:p>
          <a:p>
            <a:pPr>
              <a:spcAft>
                <a:spcPts val="1600"/>
              </a:spcAft>
              <a:defRPr sz="2000">
                <a:solidFill>
                  <a:srgbClr val="0F172A"/>
                </a:solidFill>
              </a:defRPr>
            </a:pPr>
            <a:r>
              <a:t>for SMBs</a:t>
            </a:r>
          </a:p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</a:defRPr>
            </a:pPr>
            <a:r>
              <a:t>€9/mo • 83% margins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€12B market • 15M customers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Problem &amp; 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6576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blem_illustration_17691137643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657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📉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• 60% lack systems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• 15% revenue lost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• €100-500/mo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3657600" cy="4389120"/>
          </a:xfrm>
          <a:prstGeom prst="roundRect">
            <a:avLst/>
          </a:prstGeom>
          <a:solidFill>
            <a:srgbClr val="22C55E">
              <a:lumMod val="5000"/>
              <a:lumOff val="95000"/>
            </a:srgbClr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lution_illustration_17691137785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7760" y="3657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✅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1148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✓ €9-19/mo only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✓ 2-min setup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t>✓ AI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StockFlow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Market &amp; 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21031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3600" b="1">
                <a:solidFill>
                  <a:srgbClr val="2563EB"/>
                </a:solidFill>
              </a:defRPr>
            </a:pPr>
            <a:r>
              <a:t>€12B</a:t>
            </a:r>
          </a:p>
          <a:p>
            <a:pPr algn="ctr">
              <a:defRPr sz="1800" b="1">
                <a:solidFill>
                  <a:srgbClr val="0F172A"/>
                </a:solidFill>
              </a:defRPr>
            </a:pPr>
            <a:r>
              <a:t>TAM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21031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3600" b="1">
                <a:solidFill>
                  <a:srgbClr val="22C55E"/>
                </a:solidFill>
              </a:defRPr>
            </a:pPr>
            <a:r>
              <a:t>€2.4B</a:t>
            </a:r>
          </a:p>
          <a:p>
            <a:pPr algn="ctr">
              <a:defRPr sz="1800" b="1">
                <a:solidFill>
                  <a:srgbClr val="0F172A"/>
                </a:solidFill>
              </a:defRPr>
            </a:pPr>
            <a:r>
              <a:t>SAM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71600"/>
            <a:ext cx="210312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3600" b="1">
                <a:solidFill>
                  <a:srgbClr val="F97316"/>
                </a:solidFill>
              </a:defRPr>
            </a:pPr>
            <a:r>
              <a:t>€120M</a:t>
            </a:r>
          </a:p>
          <a:p>
            <a:pPr algn="ctr">
              <a:defRPr sz="1800" b="1">
                <a:solidFill>
                  <a:srgbClr val="0F172A"/>
                </a:solidFill>
              </a:defRPr>
            </a:pPr>
            <a:r>
              <a:t>SOM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383280"/>
            <a:ext cx="2011680" cy="1371600"/>
          </a:xfrm>
          <a:prstGeom prst="roundRect">
            <a:avLst/>
          </a:prstGeom>
          <a:solidFill>
            <a:srgbClr val="2563EB">
              <a:lumMod val="5000"/>
              <a:lumOff val="95000"/>
            </a:srgbClr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800" b="1">
                <a:solidFill>
                  <a:srgbClr val="2563EB"/>
                </a:solidFill>
              </a:defRPr>
            </a:pPr>
            <a:r>
              <a:t>€9/mo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Starter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383280"/>
            <a:ext cx="2011680" cy="1371600"/>
          </a:xfrm>
          <a:prstGeom prst="roundRect">
            <a:avLst/>
          </a:prstGeom>
          <a:solidFill>
            <a:srgbClr val="22C55E">
              <a:lumMod val="5000"/>
              <a:lumOff val="95000"/>
            </a:srgbClr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800" b="1">
                <a:solidFill>
                  <a:srgbClr val="22C55E"/>
                </a:solidFill>
              </a:defRPr>
            </a:pPr>
            <a:r>
              <a:t>€19/mo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383280"/>
            <a:ext cx="2011680" cy="1371600"/>
          </a:xfrm>
          <a:prstGeom prst="roundRect">
            <a:avLst/>
          </a:prstGeom>
          <a:solidFill>
            <a:srgbClr val="F97316">
              <a:lumMod val="5000"/>
              <a:lumOff val="95000"/>
            </a:srgbClr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800" b="1">
                <a:solidFill>
                  <a:srgbClr val="F97316"/>
                </a:solidFill>
              </a:defRPr>
            </a:pPr>
            <a:r>
              <a:t>€49/mo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120640"/>
            <a:ext cx="6949440" cy="731520"/>
          </a:xfrm>
          <a:prstGeom prst="roundRect">
            <a:avLst/>
          </a:prstGeom>
          <a:solidFill>
            <a:srgbClr val="22C55E">
              <a:lumMod val="5000"/>
              <a:lumOff val="95000"/>
            </a:srgbClr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83% Margins • 12:1 LTV:CAC • Month 2 Break-even • &lt;5% Churn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StockFlow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Growth &amp;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r_chart_growth_1769114210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38404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0" y="1371600"/>
            <a:ext cx="3291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554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Y1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385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€66K ARR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560320"/>
            <a:ext cx="3291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743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Y2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7432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1.2K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432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€280K ARR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749039"/>
            <a:ext cx="3291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931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Y3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931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3K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9319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€720K ARR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7680960" cy="731520"/>
          </a:xfrm>
          <a:prstGeom prst="roundRect">
            <a:avLst/>
          </a:prstGeom>
          <a:solidFill>
            <a:srgbClr val="F97316">
              <a:lumMod val="5000"/>
              <a:lumOff val="95000"/>
            </a:srgbClr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🏆 91-98% Cheaper • Modern UX • 2-Min Setup • SMB-Focused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StockFlow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8FAFC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F172A"/>
                </a:solidFill>
              </a:defRPr>
            </a:pPr>
            <a:r>
              <a:t>Investment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645920"/>
            <a:ext cx="4572000" cy="1188720"/>
          </a:xfrm>
          <a:prstGeom prst="roundRect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Seeking €250K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for 12-15% Equity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00400"/>
            <a:ext cx="1463040" cy="1188720"/>
          </a:xfrm>
          <a:prstGeom prst="roundRect">
            <a:avLst/>
          </a:prstGeom>
          <a:solidFill>
            <a:srgbClr val="2563EB">
              <a:lumMod val="5000"/>
              <a:lumOff val="95000"/>
            </a:srgbClr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2600" b="1">
                <a:solidFill>
                  <a:srgbClr val="2563EB"/>
                </a:solidFill>
              </a:defRPr>
            </a:pPr>
            <a:r>
              <a:t>40%</a:t>
            </a:r>
          </a:p>
          <a:p>
            <a:pPr algn="ctr"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Product</a:t>
            </a:r>
          </a:p>
          <a:p>
            <a:pPr algn="ctr">
              <a:defRPr sz="1300" b="1">
                <a:solidFill>
                  <a:srgbClr val="475569"/>
                </a:solidFill>
              </a:defRPr>
            </a:pPr>
            <a:r>
              <a:t>€100K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3200400"/>
            <a:ext cx="1463040" cy="1188720"/>
          </a:xfrm>
          <a:prstGeom prst="roundRect">
            <a:avLst/>
          </a:prstGeom>
          <a:solidFill>
            <a:srgbClr val="22C55E">
              <a:lumMod val="5000"/>
              <a:lumOff val="95000"/>
            </a:srgbClr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2600" b="1">
                <a:solidFill>
                  <a:srgbClr val="22C55E"/>
                </a:solidFill>
              </a:defRPr>
            </a:pPr>
            <a:r>
              <a:t>40%</a:t>
            </a:r>
          </a:p>
          <a:p>
            <a:pPr algn="ctr"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Marketing</a:t>
            </a:r>
          </a:p>
          <a:p>
            <a:pPr algn="ctr">
              <a:defRPr sz="1300" b="1">
                <a:solidFill>
                  <a:srgbClr val="475569"/>
                </a:solidFill>
              </a:defRPr>
            </a:pPr>
            <a:r>
              <a:t>€100K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3200400"/>
            <a:ext cx="1463040" cy="1188720"/>
          </a:xfrm>
          <a:prstGeom prst="roundRect">
            <a:avLst/>
          </a:prstGeom>
          <a:solidFill>
            <a:srgbClr val="F97316">
              <a:lumMod val="5000"/>
              <a:lumOff val="95000"/>
            </a:srgbClr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2600" b="1">
                <a:solidFill>
                  <a:srgbClr val="F97316"/>
                </a:solidFill>
              </a:defRPr>
            </a:pPr>
            <a:r>
              <a:t>20%</a:t>
            </a:r>
          </a:p>
          <a:p>
            <a:pPr algn="ctr"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Operations</a:t>
            </a:r>
          </a:p>
          <a:p>
            <a:pPr algn="ctr">
              <a:defRPr sz="1300" b="1">
                <a:solidFill>
                  <a:srgbClr val="475569"/>
                </a:solidFill>
              </a:defRPr>
            </a:pPr>
            <a:r>
              <a:t>€50K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6400800" cy="640080"/>
          </a:xfrm>
          <a:prstGeom prst="roundRect">
            <a:avLst/>
          </a:prstGeom>
          <a:solidFill>
            <a:srgbClr val="22C55E">
              <a:lumMod val="5000"/>
              <a:lumOff val="95000"/>
            </a:srgbClr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10-20x Return • Month 2 Break-even • €12B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577840"/>
            <a:ext cx="6400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📧 founders@stockflow.com • 🌐 www.stockflow.com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StockFlow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