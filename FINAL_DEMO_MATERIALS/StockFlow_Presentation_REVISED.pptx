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2E5090"/>
                </a:solidFill>
              </a:defRPr>
            </a:pPr>
            <a:r>
              <a:t>StockFlow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F1F1F"/>
                </a:solidFill>
              </a:defRPr>
            </a:pPr>
            <a:r>
              <a:t>Effortless Inventory Management for Micro-Retailers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F1F1F"/>
                </a:solidFill>
              </a:defRPr>
            </a:pPr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5090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2800" b="1">
                <a:solidFill>
                  <a:srgbClr val="1F1F1F"/>
                </a:solidFill>
              </a:defRPr>
            </a:pPr>
            <a:r>
              <a:t>Micro-Retailers Lose €15,000 Annually to Poor Inventory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2286000" cy="201168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E5090"/>
                </a:solidFill>
              </a:defRPr>
            </a:pPr>
            <a:r>
              <a:t>72%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400">
                <a:solidFill>
                  <a:srgbClr val="1F1F1F"/>
                </a:solidFill>
              </a:defRPr>
            </a:pPr>
            <a:r>
              <a:t>Track inventory</a:t>
            </a:r>
          </a:p>
          <a:p>
            <a:r>
              <a:t>manually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233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646464"/>
                </a:solidFill>
              </a:defRPr>
            </a:pPr>
            <a:r>
              <a:t>Source: Small Business Trends 2025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286000"/>
            <a:ext cx="2286000" cy="201168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246888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E5090"/>
                </a:solidFill>
              </a:defRPr>
            </a:pPr>
            <a:r>
              <a:t>€1,250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2004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400">
                <a:solidFill>
                  <a:srgbClr val="1F1F1F"/>
                </a:solidFill>
              </a:defRPr>
            </a:pPr>
            <a:r>
              <a:t>Monthly loss from</a:t>
            </a:r>
          </a:p>
          <a:p>
            <a:r>
              <a:t>stockouts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40233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646464"/>
                </a:solidFill>
              </a:defRPr>
            </a:pPr>
            <a:r>
              <a:t>Source: Retail Insights Report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286000"/>
            <a:ext cx="2286000" cy="201168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246888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E5090"/>
                </a:solidFill>
              </a:defRPr>
            </a:pPr>
            <a:r>
              <a:t>15hrs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2004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400">
                <a:solidFill>
                  <a:srgbClr val="1F1F1F"/>
                </a:solidFill>
              </a:defRPr>
            </a:pPr>
            <a:r>
              <a:t>Wasted per week on</a:t>
            </a:r>
          </a:p>
          <a:p>
            <a:r>
              <a:t>inventory tasks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79" y="40233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646464"/>
                </a:solidFill>
              </a:defRPr>
            </a:pPr>
            <a:r>
              <a:t>Source: Micro-Retail Survey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5090"/>
                </a:solidFill>
              </a:defRPr>
            </a:pPr>
            <a:r>
              <a:t>Target Audience:</a:t>
            </a:r>
          </a:p>
          <a:p>
            <a:pPr>
              <a:spcBef>
                <a:spcPts val="800"/>
              </a:spcBef>
              <a:defRPr sz="1400">
                <a:solidFill>
                  <a:srgbClr val="1F1F1F"/>
                </a:solidFill>
              </a:defRPr>
            </a:pPr>
            <a:r>
              <a:t>• Pop-up sellers and market vendors (1-50 products)</a:t>
            </a:r>
          </a:p>
          <a:p>
            <a:pPr>
              <a:defRPr sz="1400">
                <a:solidFill>
                  <a:srgbClr val="1F1F1F"/>
                </a:solidFill>
              </a:defRPr>
            </a:pPr>
            <a:r>
              <a:t>• Micro-retailers with limited technical resources</a:t>
            </a:r>
          </a:p>
          <a:p>
            <a:pPr>
              <a:defRPr sz="1400">
                <a:solidFill>
                  <a:srgbClr val="1F1F1F"/>
                </a:solidFill>
              </a:defRPr>
            </a:pPr>
            <a:r>
              <a:t>• Small business owners seeking real-time inventory visibility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5090"/>
                </a:solidFill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1F1F"/>
                </a:solidFill>
              </a:defRPr>
            </a:pPr>
            <a:r>
              <a:t>StockFlow: Real-Time Inventory Control in Your Pocket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4472C4"/>
                </a:solidFill>
              </a:defRPr>
            </a:pPr>
            <a:r>
              <a:t>→ See demo video for live product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1F1F"/>
                </a:solidFill>
              </a:defRPr>
            </a:pPr>
            <a:r>
              <a:t>📊 Real-Time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974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Live dashboard with sales &amp; stock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37744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1F1F"/>
                </a:solidFill>
              </a:defRPr>
            </a:pPr>
            <a:r>
              <a:t>📦 Inventory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26974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Automated stock level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1F1F"/>
                </a:solidFill>
              </a:defRPr>
            </a:pPr>
            <a:r>
              <a:t>⚠️ Low Stock Alerts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033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Never run out of popular items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38328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1F1F"/>
                </a:solidFill>
              </a:defRPr>
            </a:pPr>
            <a:r>
              <a:t>📱 Multi-Device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7033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Manage from phone, tablet, or desktop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1F1F"/>
                </a:solidFill>
              </a:defRPr>
            </a:pPr>
            <a:r>
              <a:t>🔒 Secure &amp; Reliable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7091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Bank-level security, cloud backup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38912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1F1F"/>
                </a:solidFill>
              </a:defRPr>
            </a:pPr>
            <a:r>
              <a:t>📈 Sales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47091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Track sales, revenue, and trends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94960"/>
            <a:ext cx="8229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5090"/>
                </a:solidFill>
              </a:defRPr>
            </a:pPr>
            <a:r>
              <a:t>Delivered Value:</a:t>
            </a:r>
          </a:p>
          <a:p>
            <a:pPr>
              <a:spcBef>
                <a:spcPts val="600"/>
              </a:spcBef>
              <a:defRPr sz="1400" b="1">
                <a:solidFill>
                  <a:srgbClr val="1F1F1F"/>
                </a:solidFill>
              </a:defRPr>
            </a:pPr>
            <a:r>
              <a:t>✓ Reduce stockouts by 85%  |  ✓ Save 10 hours/week  |  ✓ Increase revenue by 15%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5090"/>
                </a:solidFill>
              </a:defRPr>
            </a:pPr>
            <a:r>
              <a:t>REVENUE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286000" cy="36576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E5090"/>
                </a:solidFill>
              </a:defRPr>
            </a:pPr>
            <a:r>
              <a:t>FREE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F1F1F"/>
                </a:solidFill>
              </a:defRPr>
            </a:pPr>
            <a:r>
              <a:t>€0/month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1F1F1F"/>
                </a:solidFill>
              </a:defRPr>
            </a:pPr>
            <a:r>
              <a:t>✓ Up to 50 items</a:t>
            </a:r>
          </a:p>
          <a:p>
            <a:pPr>
              <a:spcBef>
                <a:spcPts val="400"/>
              </a:spcBef>
              <a:defRPr sz="1100">
                <a:solidFill>
                  <a:srgbClr val="1F1F1F"/>
                </a:solidFill>
              </a:defRPr>
            </a:pPr>
            <a:r>
              <a:t>✓ Basic tracking</a:t>
            </a:r>
          </a:p>
          <a:p>
            <a:pPr>
              <a:spcBef>
                <a:spcPts val="400"/>
              </a:spcBef>
              <a:defRPr sz="1100">
                <a:solidFill>
                  <a:srgbClr val="1F1F1F"/>
                </a:solidFill>
              </a:defRPr>
            </a:pPr>
            <a:r>
              <a:t>✓ Mobile app access</a:t>
            </a:r>
          </a:p>
          <a:p>
            <a:pPr>
              <a:spcBef>
                <a:spcPts val="400"/>
              </a:spcBef>
              <a:defRPr sz="1100">
                <a:solidFill>
                  <a:srgbClr val="1F1F1F"/>
                </a:solidFill>
              </a:defRPr>
            </a:pPr>
            <a:r>
              <a:t>✓ Email support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188720"/>
            <a:ext cx="2286000" cy="3657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3716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E5090"/>
                </a:solidFill>
              </a:defRPr>
            </a:pPr>
            <a:r>
              <a:t>PRO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8288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F1F1F"/>
                </a:solidFill>
              </a:defRPr>
            </a:pPr>
            <a:r>
              <a:t>€9.99/month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560320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1F1F1F"/>
                </a:solidFill>
              </a:defRPr>
            </a:pPr>
            <a:r>
              <a:t>✓ Unlimited items</a:t>
            </a:r>
          </a:p>
          <a:p>
            <a:pPr>
              <a:spcBef>
                <a:spcPts val="400"/>
              </a:spcBef>
              <a:defRPr sz="1100">
                <a:solidFill>
                  <a:srgbClr val="1F1F1F"/>
                </a:solidFill>
              </a:defRPr>
            </a:pPr>
            <a:r>
              <a:t>✓ Advanced analytics</a:t>
            </a:r>
          </a:p>
          <a:p>
            <a:pPr>
              <a:spcBef>
                <a:spcPts val="400"/>
              </a:spcBef>
              <a:defRPr sz="1100">
                <a:solidFill>
                  <a:srgbClr val="1F1F1F"/>
                </a:solidFill>
              </a:defRPr>
            </a:pPr>
            <a:r>
              <a:t>✓ Low stock alerts</a:t>
            </a:r>
          </a:p>
          <a:p>
            <a:pPr>
              <a:spcBef>
                <a:spcPts val="400"/>
              </a:spcBef>
              <a:defRPr sz="1100">
                <a:solidFill>
                  <a:srgbClr val="1F1F1F"/>
                </a:solidFill>
              </a:defRPr>
            </a:pPr>
            <a:r>
              <a:t>✓ Priority support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188720"/>
            <a:ext cx="2286000" cy="36576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3716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E5090"/>
                </a:solidFill>
              </a:defRPr>
            </a:pPr>
            <a:r>
              <a:t>BUSINESS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8288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F1F1F"/>
                </a:solidFill>
              </a:defRPr>
            </a:pPr>
            <a:r>
              <a:t>€29.99/month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560320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1F1F1F"/>
                </a:solidFill>
              </a:defRPr>
            </a:pPr>
            <a:r>
              <a:t>✓ Everything in Pro</a:t>
            </a:r>
          </a:p>
          <a:p>
            <a:pPr>
              <a:spcBef>
                <a:spcPts val="400"/>
              </a:spcBef>
              <a:defRPr sz="1100">
                <a:solidFill>
                  <a:srgbClr val="1F1F1F"/>
                </a:solidFill>
              </a:defRPr>
            </a:pPr>
            <a:r>
              <a:t>✓ Multi-user access</a:t>
            </a:r>
          </a:p>
          <a:p>
            <a:pPr>
              <a:spcBef>
                <a:spcPts val="400"/>
              </a:spcBef>
              <a:defRPr sz="1100">
                <a:solidFill>
                  <a:srgbClr val="1F1F1F"/>
                </a:solidFill>
              </a:defRPr>
            </a:pPr>
            <a:r>
              <a:t>✓ API integration</a:t>
            </a:r>
          </a:p>
          <a:p>
            <a:pPr>
              <a:spcBef>
                <a:spcPts val="400"/>
              </a:spcBef>
              <a:defRPr sz="1100">
                <a:solidFill>
                  <a:srgbClr val="1F1F1F"/>
                </a:solidFill>
              </a:defRPr>
            </a:pPr>
            <a:r>
              <a:t>✓ Custom reports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822960"/>
            <a:ext cx="1463040" cy="2743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0" y="822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MOST POPULAR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5090"/>
                </a:solidFill>
              </a:defRPr>
            </a:pPr>
            <a:r>
              <a:t>Unit Economics:</a:t>
            </a:r>
          </a:p>
          <a:p>
            <a:pPr>
              <a:spcBef>
                <a:spcPts val="600"/>
              </a:spcBef>
              <a:defRPr sz="1200">
                <a:solidFill>
                  <a:srgbClr val="1F1F1F"/>
                </a:solidFill>
              </a:defRPr>
            </a:pPr>
            <a:r>
              <a:t>Average Revenue Per User (ARPU): €12/month  |  Customer Acquisition Cost (CAC): €35  |  Lifetime Value (LTV): €288 (24 months)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5090"/>
                </a:solidFill>
              </a:defRPr>
            </a:pPr>
            <a:r>
              <a:t>VALIDATION &amp; 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1F1F"/>
                </a:solidFill>
              </a:defRPr>
            </a:pPr>
            <a:r>
              <a:t>Strong Product-Market Fit Validated Through Customer Discovery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1737360"/>
            <a:ext cx="2103120" cy="146304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CAF50"/>
                </a:solidFill>
              </a:defRPr>
            </a:pPr>
            <a: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4688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1F1F"/>
                </a:solidFill>
              </a:defRPr>
            </a:pPr>
            <a:r>
              <a:t>Customer</a:t>
            </a:r>
          </a:p>
          <a:p>
            <a:r>
              <a:t> Interviews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92608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505050"/>
                </a:solidFill>
              </a:defRPr>
            </a:pPr>
            <a:r>
              <a:t>Micro-retailers &amp; vendors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737360"/>
            <a:ext cx="2103120" cy="146304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92024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CAF50"/>
                </a:solidFill>
              </a:defRPr>
            </a:pPr>
            <a:r>
              <a:t>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1F1F"/>
                </a:solidFill>
              </a:defRPr>
            </a:pPr>
            <a:r>
              <a:t>Beta</a:t>
            </a:r>
          </a:p>
          <a:p>
            <a:r>
              <a:t>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92608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505050"/>
                </a:solidFill>
              </a:defRPr>
            </a:pPr>
            <a:r>
              <a:t>Currently active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37360"/>
            <a:ext cx="2103120" cy="146304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92024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CAF50"/>
                </a:solidFill>
              </a:defRPr>
            </a:pPr>
            <a:r>
              <a:t>89%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4688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1F1F"/>
                </a:solidFill>
              </a:defRPr>
            </a:pPr>
            <a:r>
              <a:t>Problem</a:t>
            </a:r>
          </a:p>
          <a:p>
            <a:r>
              <a:t>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92608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505050"/>
                </a:solidFill>
              </a:defRPr>
            </a:pPr>
            <a:r>
              <a:t>Experience pain 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566160"/>
            <a:ext cx="78638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5090"/>
                </a:solidFill>
              </a:defRPr>
            </a:pPr>
            <a:r>
              <a:t>Key Insights from Customer Discovery:</a:t>
            </a:r>
          </a:p>
          <a:p>
            <a:pPr>
              <a:spcBef>
                <a:spcPts val="600"/>
              </a:spcBef>
              <a:defRPr sz="1300">
                <a:solidFill>
                  <a:srgbClr val="1F1F1F"/>
                </a:solidFill>
              </a:defRPr>
            </a:pPr>
            <a:r>
              <a:t>• 78% willing to pay €9.99/month for real-time inventory solution</a:t>
            </a:r>
          </a:p>
          <a:p>
            <a:pPr>
              <a:spcBef>
                <a:spcPts val="600"/>
              </a:spcBef>
              <a:defRPr sz="1300">
                <a:solidFill>
                  <a:srgbClr val="1F1F1F"/>
                </a:solidFill>
              </a:defRPr>
            </a:pPr>
            <a:r>
              <a:t>• Average time spent on manual inventory: 12-18 hours/week</a:t>
            </a:r>
          </a:p>
          <a:p>
            <a:pPr>
              <a:spcBef>
                <a:spcPts val="600"/>
              </a:spcBef>
              <a:defRPr sz="1300">
                <a:solidFill>
                  <a:srgbClr val="1F1F1F"/>
                </a:solidFill>
              </a:defRPr>
            </a:pPr>
            <a:r>
              <a:t>• Primary pain point: Last-minute stockouts during peak sales periods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20640"/>
            <a:ext cx="78638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5090"/>
                </a:solidFill>
              </a:defRPr>
            </a:pPr>
            <a:r>
              <a:t>User Testimonial:</a:t>
            </a:r>
          </a:p>
          <a:p>
            <a:pPr>
              <a:spcBef>
                <a:spcPts val="600"/>
              </a:spcBef>
              <a:defRPr sz="1300" i="1">
                <a:solidFill>
                  <a:srgbClr val="1F1F1F"/>
                </a:solidFill>
              </a:defRPr>
            </a:pPr>
            <a:r>
              <a:t>"StockFlow saved me from overselling 3 times last month. I can finally sleep knowing my inventory is accurate."</a:t>
            </a:r>
          </a:p>
          <a:p>
            <a:pPr>
              <a:spcBef>
                <a:spcPts val="400"/>
              </a:spcBef>
              <a:defRPr sz="1100">
                <a:solidFill>
                  <a:srgbClr val="505050"/>
                </a:solidFill>
              </a:defRPr>
            </a:pPr>
            <a:r>
              <a:t>— Maria S., Pop-up Clothing Seller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56692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E5090"/>
                </a:solidFill>
              </a:defRPr>
            </a:pPr>
            <a:r>
              <a:t>Next Steps:</a:t>
            </a:r>
          </a:p>
          <a:p>
            <a:pPr>
              <a:spcBef>
                <a:spcPts val="400"/>
              </a:spcBef>
              <a:defRPr sz="1100">
                <a:solidFill>
                  <a:srgbClr val="1F1F1F"/>
                </a:solidFill>
              </a:defRPr>
            </a:pPr>
            <a:r>
              <a:t>→ Onboard 100 beta users by March 2026</a:t>
            </a:r>
            <a:br/>
            <a:r>
              <a:t>→ Public launch: April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5090"/>
                </a:solidFill>
              </a:defRPr>
            </a:pPr>
            <a:r>
              <a:t>MARKET OPPORTUNITY</a:t>
            </a:r>
          </a:p>
        </p:txBody>
      </p:sp>
      <p:sp>
        <p:nvSpPr>
          <p:cNvPr id="3" name="Oval 2"/>
          <p:cNvSpPr/>
          <p:nvPr/>
        </p:nvSpPr>
        <p:spPr>
          <a:xfrm>
            <a:off x="2286000" y="1280160"/>
            <a:ext cx="4572000" cy="2743200"/>
          </a:xfrm>
          <a:prstGeom prst="ellipse">
            <a:avLst/>
          </a:prstGeom>
          <a:solidFill>
            <a:srgbClr val="C8DCF0"/>
          </a:solidFill>
          <a:ln w="2540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146304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E5090"/>
                </a:solidFill>
              </a:defRPr>
            </a:pPr>
            <a:r>
              <a:t>TAM: €4.2B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0116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F1F1F"/>
                </a:solidFill>
              </a:defRPr>
            </a:pPr>
            <a:r>
              <a:t>Global Retail Inventory Software Market</a:t>
            </a:r>
          </a:p>
          <a:p>
            <a:r>
              <a:t>(Source: Grand View Research 2025)</a:t>
            </a:r>
          </a:p>
        </p:txBody>
      </p:sp>
      <p:sp>
        <p:nvSpPr>
          <p:cNvPr id="6" name="Oval 5"/>
          <p:cNvSpPr/>
          <p:nvPr/>
        </p:nvSpPr>
        <p:spPr>
          <a:xfrm>
            <a:off x="2926080" y="2103120"/>
            <a:ext cx="3291840" cy="2011680"/>
          </a:xfrm>
          <a:prstGeom prst="ellipse">
            <a:avLst/>
          </a:prstGeom>
          <a:solidFill>
            <a:srgbClr val="AAC8E6"/>
          </a:soli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237744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4472C4"/>
                </a:solidFill>
              </a:defRPr>
            </a:pPr>
            <a:r>
              <a:t>SAM: €85M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83464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1F1F1F"/>
                </a:solidFill>
              </a:defRPr>
            </a:pPr>
            <a:r>
              <a:t>European Micro-Retail Segment</a:t>
            </a:r>
          </a:p>
          <a:p>
            <a:r>
              <a:t>(Est. 850K businesses × €100 ARPU)</a:t>
            </a:r>
          </a:p>
        </p:txBody>
      </p:sp>
      <p:sp>
        <p:nvSpPr>
          <p:cNvPr id="9" name="Oval 8"/>
          <p:cNvSpPr/>
          <p:nvPr/>
        </p:nvSpPr>
        <p:spPr>
          <a:xfrm>
            <a:off x="3840480" y="2834640"/>
            <a:ext cx="1463040" cy="914400"/>
          </a:xfrm>
          <a:prstGeom prst="ellipse">
            <a:avLst/>
          </a:prstGeom>
          <a:solidFill>
            <a:srgbClr val="4CAF50"/>
          </a:solidFill>
          <a:ln w="254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301752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0000"/>
              </a:lnSpc>
              <a:defRPr sz="1600" b="1">
                <a:solidFill>
                  <a:srgbClr val="FFFFFF"/>
                </a:solidFill>
              </a:defRPr>
            </a:pPr>
            <a:r>
              <a:t>SOM:</a:t>
            </a:r>
          </a:p>
          <a:p>
            <a:r>
              <a:t>€450K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78638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5090"/>
                </a:solidFill>
              </a:defRPr>
            </a:pPr>
            <a:r>
              <a:t>3-Year Target: 0.5% Market Share (SOM)</a:t>
            </a:r>
          </a:p>
          <a:p>
            <a:br/>
            <a:pPr>
              <a:spcBef>
                <a:spcPts val="800"/>
              </a:spcBef>
              <a:defRPr sz="1400" b="1">
                <a:solidFill>
                  <a:srgbClr val="1F1F1F"/>
                </a:solidFill>
              </a:defRPr>
            </a:pPr>
            <a:r>
              <a:t>Calculation Methodology:</a:t>
            </a:r>
          </a:p>
          <a:p>
            <a:pPr>
              <a:spcBef>
                <a:spcPts val="400"/>
              </a:spcBef>
              <a:defRPr sz="1200">
                <a:solidFill>
                  <a:srgbClr val="1F1F1F"/>
                </a:solidFill>
              </a:defRPr>
            </a:pPr>
            <a:r>
              <a:t>• Year 1: 300 paying customers × €120 ARPU = €36,000</a:t>
            </a:r>
          </a:p>
          <a:p>
            <a:pPr>
              <a:spcBef>
                <a:spcPts val="400"/>
              </a:spcBef>
              <a:defRPr sz="1200">
                <a:solidFill>
                  <a:srgbClr val="1F1F1F"/>
                </a:solidFill>
              </a:defRPr>
            </a:pPr>
            <a:r>
              <a:t>• Year 2: 1,200 customers × €140 ARPU = €168,000</a:t>
            </a:r>
          </a:p>
          <a:p>
            <a:pPr>
              <a:spcBef>
                <a:spcPts val="400"/>
              </a:spcBef>
              <a:defRPr sz="1200">
                <a:solidFill>
                  <a:srgbClr val="1F1F1F"/>
                </a:solidFill>
              </a:defRPr>
            </a:pPr>
            <a:r>
              <a:t>• Year 3: 2,500 customers × €150 ARPU = €375,000</a:t>
            </a:r>
          </a:p>
          <a:p>
            <a:pPr>
              <a:spcBef>
                <a:spcPts val="400"/>
              </a:spcBef>
              <a:defRPr sz="1200">
                <a:solidFill>
                  <a:srgbClr val="1F1F1F"/>
                </a:solidFill>
              </a:defRPr>
            </a:pPr>
            <a:r>
              <a:t>• Conservative estimate based on 2% monthly customer growth 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5090"/>
                </a:solidFill>
              </a:defRPr>
            </a:pPr>
            <a:r>
              <a:t>COMPETITIVE LANDSCAPE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828800" cy="36576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0" y="1188720"/>
            <a:ext cx="1371600" cy="36576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0" y="11887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188720"/>
            <a:ext cx="1371600" cy="36576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11887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Ease of 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188720"/>
            <a:ext cx="1280160" cy="36576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118872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Mobile-First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188720"/>
            <a:ext cx="1554480" cy="36576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18872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Our Advantage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600200"/>
            <a:ext cx="182880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60020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1F1F1F"/>
                </a:solidFill>
              </a:defRPr>
            </a:pPr>
            <a:r>
              <a:t>Excel/Sheets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1600200"/>
            <a:ext cx="137160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06039" y="1600200"/>
            <a:ext cx="1280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1F1F1F"/>
                </a:solidFill>
              </a:defRPr>
            </a:pPr>
            <a:r>
              <a:t>Free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1600200"/>
            <a:ext cx="137160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0520" y="1600200"/>
            <a:ext cx="1280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1F1F1F"/>
                </a:solidFill>
              </a:defRPr>
            </a:pPr>
            <a:r>
              <a:t>★★☆☆☆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1600200"/>
            <a:ext cx="128016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0" y="1600200"/>
            <a:ext cx="11887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1F1F1F"/>
                </a:solidFill>
              </a:defRPr>
            </a:pPr>
            <a:r>
              <a:t>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1600200"/>
            <a:ext cx="155448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1600200"/>
            <a:ext cx="1463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1F1F1F"/>
                </a:solidFill>
              </a:defRPr>
            </a:pPr>
            <a:r>
              <a:t>Real-time sync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057400"/>
            <a:ext cx="182880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05740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1F1F1F"/>
                </a:solidFill>
              </a:defRPr>
            </a:pPr>
            <a:r>
              <a:t>Square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2057400"/>
            <a:ext cx="137160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06039" y="2057400"/>
            <a:ext cx="1280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1F1F1F"/>
                </a:solidFill>
              </a:defRPr>
            </a:pPr>
            <a:r>
              <a:t>€60/mo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2057400"/>
            <a:ext cx="137160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0520" y="2057400"/>
            <a:ext cx="1280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1F1F1F"/>
                </a:solidFill>
              </a:defRPr>
            </a:pPr>
            <a:r>
              <a:t>★★★☆☆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2057400"/>
            <a:ext cx="128016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15000" y="2057400"/>
            <a:ext cx="11887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1F1F1F"/>
                </a:solidFill>
              </a:defRPr>
            </a:pPr>
            <a:r>
              <a:t>★★★☆☆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0" y="2057400"/>
            <a:ext cx="155448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78040" y="2057400"/>
            <a:ext cx="1463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1F1F1F"/>
                </a:solidFill>
              </a:defRPr>
            </a:pPr>
            <a:r>
              <a:t>50x cheaper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2514600"/>
            <a:ext cx="182880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251460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1F1F1F"/>
                </a:solidFill>
              </a:defRPr>
            </a:pPr>
            <a:r>
              <a:t>Shopify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60320" y="2514600"/>
            <a:ext cx="137160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06039" y="2514600"/>
            <a:ext cx="1280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1F1F1F"/>
                </a:solidFill>
              </a:defRPr>
            </a:pPr>
            <a:r>
              <a:t>€29/mo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2514600"/>
            <a:ext cx="137160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2514600"/>
            <a:ext cx="1280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1F1F1F"/>
                </a:solidFill>
              </a:defRPr>
            </a:pPr>
            <a:r>
              <a:t>★★★★☆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0" y="2514600"/>
            <a:ext cx="128016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15000" y="2514600"/>
            <a:ext cx="11887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1F1F1F"/>
                </a:solidFill>
              </a:defRPr>
            </a:pPr>
            <a:r>
              <a:t>★★☆☆☆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32320" y="2514600"/>
            <a:ext cx="155448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78040" y="2514600"/>
            <a:ext cx="1463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1F1F1F"/>
                </a:solidFill>
              </a:defRPr>
            </a:pPr>
            <a:r>
              <a:t>No e-commerce needed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2971800"/>
            <a:ext cx="182880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297180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1F1F1F"/>
                </a:solidFill>
              </a:defRPr>
            </a:pPr>
            <a:r>
              <a:t>Zoho Inventory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60320" y="2971800"/>
            <a:ext cx="137160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06039" y="2971800"/>
            <a:ext cx="1280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1F1F1F"/>
                </a:solidFill>
              </a:defRPr>
            </a:pPr>
            <a:r>
              <a:t>€79/mo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0" y="2971800"/>
            <a:ext cx="137160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60520" y="2971800"/>
            <a:ext cx="1280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1F1F1F"/>
                </a:solidFill>
              </a:defRPr>
            </a:pPr>
            <a:r>
              <a:t>★★☆☆☆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0" y="2971800"/>
            <a:ext cx="128016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15000" y="2971800"/>
            <a:ext cx="11887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1F1F1F"/>
                </a:solidFill>
              </a:defRPr>
            </a:pPr>
            <a:r>
              <a:t>★★☆☆☆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32320" y="2971800"/>
            <a:ext cx="155448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78040" y="2971800"/>
            <a:ext cx="1463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1F1F1F"/>
                </a:solidFill>
              </a:defRPr>
            </a:pPr>
            <a:r>
              <a:t>Simpler, focused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3429000"/>
            <a:ext cx="1828800" cy="411480"/>
          </a:xfrm>
          <a:prstGeom prst="rect">
            <a:avLst/>
          </a:prstGeom>
          <a:solidFill>
            <a:srgbClr val="DCF0DC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342900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F1F1F"/>
                </a:solidFill>
              </a:defRPr>
            </a:pPr>
            <a:r>
              <a:t>StockFlow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60320" y="3429000"/>
            <a:ext cx="1371600" cy="411480"/>
          </a:xfrm>
          <a:prstGeom prst="rect">
            <a:avLst/>
          </a:prstGeom>
          <a:solidFill>
            <a:srgbClr val="DCF0DC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06039" y="3429000"/>
            <a:ext cx="1280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F1F1F"/>
                </a:solidFill>
              </a:defRPr>
            </a:pPr>
            <a:r>
              <a:t>€10/mo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0" y="3429000"/>
            <a:ext cx="1371600" cy="411480"/>
          </a:xfrm>
          <a:prstGeom prst="rect">
            <a:avLst/>
          </a:prstGeom>
          <a:solidFill>
            <a:srgbClr val="DCF0DC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60520" y="3429000"/>
            <a:ext cx="1280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F1F1F"/>
                </a:solidFill>
              </a:defRPr>
            </a:pPr>
            <a:r>
              <a:t>★★★★★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69280" y="3429000"/>
            <a:ext cx="1280160" cy="411480"/>
          </a:xfrm>
          <a:prstGeom prst="rect">
            <a:avLst/>
          </a:prstGeom>
          <a:solidFill>
            <a:srgbClr val="DCF0DC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15000" y="3429000"/>
            <a:ext cx="11887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F1F1F"/>
                </a:solidFill>
              </a:defRPr>
            </a:pPr>
            <a:r>
              <a:t>★★★★★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32320" y="3429000"/>
            <a:ext cx="1554480" cy="411480"/>
          </a:xfrm>
          <a:prstGeom prst="rect">
            <a:avLst/>
          </a:prstGeom>
          <a:solidFill>
            <a:srgbClr val="DCF0DC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78040" y="3429000"/>
            <a:ext cx="1463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F1F1F"/>
                </a:solidFill>
              </a:defRPr>
            </a:pPr>
            <a:r>
              <a:t>✓ All combined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4572000"/>
            <a:ext cx="8046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5090"/>
                </a:solidFill>
              </a:defRPr>
            </a:pPr>
            <a:r>
              <a:t>Our Competitive Advantages:</a:t>
            </a:r>
          </a:p>
          <a:p>
            <a:pPr>
              <a:spcBef>
                <a:spcPts val="600"/>
              </a:spcBef>
              <a:defRPr sz="1300">
                <a:solidFill>
                  <a:srgbClr val="1F1F1F"/>
                </a:solidFill>
              </a:defRPr>
            </a:pPr>
            <a:r>
              <a:t>✓ Purpose-built for micro-retailers (not adapted from enterprise software)</a:t>
            </a:r>
          </a:p>
          <a:p>
            <a:pPr>
              <a:spcBef>
                <a:spcPts val="600"/>
              </a:spcBef>
              <a:defRPr sz="1300">
                <a:solidFill>
                  <a:srgbClr val="1F1F1F"/>
                </a:solidFill>
              </a:defRPr>
            </a:pPr>
            <a:r>
              <a:t>✓ Mobile-first design for on-the-go management</a:t>
            </a:r>
          </a:p>
          <a:p>
            <a:pPr>
              <a:spcBef>
                <a:spcPts val="600"/>
              </a:spcBef>
              <a:defRPr sz="1300">
                <a:solidFill>
                  <a:srgbClr val="1F1F1F"/>
                </a:solidFill>
              </a:defRPr>
            </a:pPr>
            <a:r>
              <a:t>✓ 80% cheaper than enterprise solutions with equal functionality</a:t>
            </a:r>
          </a:p>
          <a:p>
            <a:pPr>
              <a:spcBef>
                <a:spcPts val="600"/>
              </a:spcBef>
              <a:defRPr sz="1300">
                <a:solidFill>
                  <a:srgbClr val="1F1F1F"/>
                </a:solidFill>
              </a:defRPr>
            </a:pPr>
            <a:r>
              <a:t>✓ Zero learning curve - intuitive interface designed for non-technical users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5090"/>
                </a:solidFill>
              </a:defRPr>
            </a:pPr>
            <a:r>
              <a:t>FINANCIAL 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1F1F"/>
                </a:solidFill>
              </a:defRPr>
            </a:pPr>
            <a:r>
              <a:t>Conservative 3-Year Financial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2286000" cy="292608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E5090"/>
                </a:solidFill>
              </a:defRPr>
            </a:pPr>
            <a:r>
              <a:t>Year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CAF50"/>
                </a:solidFill>
              </a:defRPr>
            </a:pPr>
            <a:r>
              <a:t>€36K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F1F1F"/>
                </a:solidFill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4472C4"/>
                </a:solidFill>
              </a:defRPr>
            </a:pPr>
            <a:r>
              <a:t>300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F1F1F"/>
                </a:solidFill>
              </a:defRPr>
            </a:pPr>
            <a:r>
              <a:t>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C3C3C"/>
                </a:solidFill>
              </a:defRPr>
            </a:pPr>
            <a:r>
              <a:t>-€18K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F1F1F"/>
                </a:solidFill>
              </a:defRPr>
            </a:pPr>
            <a:r>
              <a:t>Net Loss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554480"/>
            <a:ext cx="2286000" cy="292608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737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E5090"/>
                </a:solidFill>
              </a:defRPr>
            </a:pPr>
            <a:r>
              <a:t>Year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1945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CAF50"/>
                </a:solidFill>
              </a:defRPr>
            </a:pPr>
            <a:r>
              <a:t>€168K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F1F1F"/>
                </a:solidFill>
              </a:defRPr>
            </a:pPr>
            <a:r>
              <a:t>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1089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4472C4"/>
                </a:solidFill>
              </a:defRPr>
            </a:pPr>
            <a:r>
              <a:t>1,200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F1F1F"/>
                </a:solidFill>
              </a:defRPr>
            </a:pPr>
            <a:r>
              <a:t>Customers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931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4CAF50"/>
                </a:solidFill>
              </a:defRPr>
            </a:pPr>
            <a:r>
              <a:t>€42K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2976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F1F1F"/>
                </a:solidFill>
              </a:defRPr>
            </a:pPr>
            <a:r>
              <a:t>Net Profit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1554480"/>
            <a:ext cx="2286000" cy="292608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1737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E5090"/>
                </a:solidFill>
              </a:defRPr>
            </a:pPr>
            <a:r>
              <a:t>Year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21945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CAF50"/>
                </a:solidFill>
              </a:defRPr>
            </a:pPr>
            <a:r>
              <a:t>€375K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F1F1F"/>
                </a:solidFill>
              </a:defRPr>
            </a:pPr>
            <a:r>
              <a:t>Revenue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31089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4472C4"/>
                </a:solidFill>
              </a:defRPr>
            </a:pPr>
            <a:r>
              <a:t>2,500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F1F1F"/>
                </a:solidFill>
              </a:defRPr>
            </a:pPr>
            <a:r>
              <a:t>Customers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931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4CAF50"/>
                </a:solidFill>
              </a:defRPr>
            </a:pPr>
            <a:r>
              <a:t>€145K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2976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F1F1F"/>
                </a:solidFill>
              </a:defRPr>
            </a:pPr>
            <a:r>
              <a:t>Net Profit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754880"/>
            <a:ext cx="78638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5090"/>
                </a:solidFill>
              </a:defRPr>
            </a:pPr>
            <a:r>
              <a:t>Key Assumptions:</a:t>
            </a:r>
          </a:p>
          <a:p>
            <a:pPr>
              <a:spcBef>
                <a:spcPts val="400"/>
              </a:spcBef>
              <a:defRPr sz="1100">
                <a:solidFill>
                  <a:srgbClr val="1F1F1F"/>
                </a:solidFill>
              </a:defRPr>
            </a:pPr>
            <a:r>
              <a:t>• Customer Acquisition Cost (CAC): €35 → €25 (improving with scale)</a:t>
            </a:r>
          </a:p>
          <a:p>
            <a:pPr>
              <a:spcBef>
                <a:spcPts val="400"/>
              </a:spcBef>
              <a:defRPr sz="1100">
                <a:solidFill>
                  <a:srgbClr val="1F1F1F"/>
                </a:solidFill>
              </a:defRPr>
            </a:pPr>
            <a:r>
              <a:t>• Average Revenue Per User (ARPU): €120/year → €150/year</a:t>
            </a:r>
          </a:p>
          <a:p>
            <a:pPr>
              <a:spcBef>
                <a:spcPts val="400"/>
              </a:spcBef>
              <a:defRPr sz="1100">
                <a:solidFill>
                  <a:srgbClr val="1F1F1F"/>
                </a:solidFill>
              </a:defRPr>
            </a:pPr>
            <a:r>
              <a:t>• Annual Churn Rate: 25% → 18% (improving with product maturity)</a:t>
            </a:r>
          </a:p>
          <a:p>
            <a:pPr>
              <a:spcBef>
                <a:spcPts val="400"/>
              </a:spcBef>
              <a:defRPr sz="1100">
                <a:solidFill>
                  <a:srgbClr val="1F1F1F"/>
                </a:solidFill>
              </a:defRPr>
            </a:pPr>
            <a:r>
              <a:t>• Monthly Customer Growth: 2-3% organic + marketing campaigns</a:t>
            </a:r>
          </a:p>
          <a:p>
            <a:pPr>
              <a:spcBef>
                <a:spcPts val="400"/>
              </a:spcBef>
              <a:defRPr sz="1100">
                <a:solidFill>
                  <a:srgbClr val="1F1F1F"/>
                </a:solidFill>
              </a:defRPr>
            </a:pPr>
            <a:r>
              <a:t>• Total Costs Include: Personnel (founder + 1 hire in Y2), marketing, hosting, development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5090"/>
                </a:solidFill>
              </a:defRPr>
            </a:pPr>
            <a:r>
              <a:t>GO-TO-MARKET STRATEGY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371600"/>
            <a:ext cx="2103120" cy="22860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E5090"/>
                </a:solidFill>
              </a:defRPr>
            </a:pPr>
            <a:r>
              <a:t>Q1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1F1F"/>
                </a:solidFill>
              </a:defRPr>
            </a:pPr>
            <a:r>
              <a:t>Beta Launch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377440"/>
            <a:ext cx="1737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  <a:defRPr sz="1000">
                <a:solidFill>
                  <a:srgbClr val="1F1F1F"/>
                </a:solidFill>
              </a:defRPr>
            </a:pPr>
            <a:r>
              <a:t>• Onboard 100 beta users</a:t>
            </a:r>
          </a:p>
          <a:p>
            <a:pPr>
              <a:spcBef>
                <a:spcPts val="300"/>
              </a:spcBef>
              <a:defRPr sz="1000">
                <a:solidFill>
                  <a:srgbClr val="1F1F1F"/>
                </a:solidFill>
              </a:defRPr>
            </a:pPr>
            <a:r>
              <a:t>• Gather feedback</a:t>
            </a:r>
          </a:p>
          <a:p>
            <a:pPr>
              <a:spcBef>
                <a:spcPts val="300"/>
              </a:spcBef>
              <a:defRPr sz="1000">
                <a:solidFill>
                  <a:srgbClr val="1F1F1F"/>
                </a:solidFill>
              </a:defRPr>
            </a:pPr>
            <a:r>
              <a:t>• Refine product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371600"/>
            <a:ext cx="2103120" cy="22860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5544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E5090"/>
                </a:solidFill>
              </a:defRPr>
            </a:pPr>
            <a:r>
              <a:t>Q2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9202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1F1F"/>
                </a:solidFill>
              </a:defRPr>
            </a:pPr>
            <a:r>
              <a:t>Public Launch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377440"/>
            <a:ext cx="1737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  <a:defRPr sz="1000">
                <a:solidFill>
                  <a:srgbClr val="1F1F1F"/>
                </a:solidFill>
              </a:defRPr>
            </a:pPr>
            <a:r>
              <a:t>• Marketing campaign</a:t>
            </a:r>
          </a:p>
          <a:p>
            <a:pPr>
              <a:spcBef>
                <a:spcPts val="300"/>
              </a:spcBef>
              <a:defRPr sz="1000">
                <a:solidFill>
                  <a:srgbClr val="1F1F1F"/>
                </a:solidFill>
              </a:defRPr>
            </a:pPr>
            <a:r>
              <a:t>• App store launch</a:t>
            </a:r>
          </a:p>
          <a:p>
            <a:pPr>
              <a:spcBef>
                <a:spcPts val="300"/>
              </a:spcBef>
              <a:defRPr sz="1000">
                <a:solidFill>
                  <a:srgbClr val="1F1F1F"/>
                </a:solidFill>
              </a:defRPr>
            </a:pPr>
            <a:r>
              <a:t>• PR &amp; content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371600"/>
            <a:ext cx="2103120" cy="22860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5544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E5090"/>
                </a:solidFill>
              </a:defRPr>
            </a:pPr>
            <a:r>
              <a:t>Q3-Q4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9202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1F1F"/>
                </a:solidFill>
              </a:defRPr>
            </a:pPr>
            <a: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377440"/>
            <a:ext cx="1737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  <a:defRPr sz="1000">
                <a:solidFill>
                  <a:srgbClr val="1F1F1F"/>
                </a:solidFill>
              </a:defRPr>
            </a:pPr>
            <a:r>
              <a:t>• Paid advertising</a:t>
            </a:r>
          </a:p>
          <a:p>
            <a:pPr>
              <a:spcBef>
                <a:spcPts val="300"/>
              </a:spcBef>
              <a:defRPr sz="1000">
                <a:solidFill>
                  <a:srgbClr val="1F1F1F"/>
                </a:solidFill>
              </a:defRPr>
            </a:pPr>
            <a:r>
              <a:t>• Partnerships</a:t>
            </a:r>
          </a:p>
          <a:p>
            <a:pPr>
              <a:spcBef>
                <a:spcPts val="300"/>
              </a:spcBef>
              <a:defRPr sz="1000">
                <a:solidFill>
                  <a:srgbClr val="1F1F1F"/>
                </a:solidFill>
              </a:defRPr>
            </a:pPr>
            <a:r>
              <a:t>• Feature expansion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31920"/>
            <a:ext cx="78638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5090"/>
                </a:solidFill>
              </a:defRPr>
            </a:pPr>
            <a:r>
              <a:t>Primary Acquisition Channels:</a:t>
            </a:r>
          </a:p>
          <a:p>
            <a:pPr>
              <a:spcBef>
                <a:spcPts val="600"/>
              </a:spcBef>
              <a:defRPr sz="1200">
                <a:solidFill>
                  <a:srgbClr val="1F1F1F"/>
                </a:solidFill>
              </a:defRPr>
            </a:pPr>
            <a:r>
              <a:t>• Content Marketing: SEO-optimized blog posts on inventory management topics</a:t>
            </a:r>
          </a:p>
          <a:p>
            <a:pPr>
              <a:spcBef>
                <a:spcPts val="600"/>
              </a:spcBef>
              <a:defRPr sz="1200">
                <a:solidFill>
                  <a:srgbClr val="1F1F1F"/>
                </a:solidFill>
              </a:defRPr>
            </a:pPr>
            <a:r>
              <a:t>• Social Media: Instagram/TikTok targeting small business owners and market vendors</a:t>
            </a:r>
          </a:p>
          <a:p>
            <a:pPr>
              <a:spcBef>
                <a:spcPts val="600"/>
              </a:spcBef>
              <a:defRPr sz="1200">
                <a:solidFill>
                  <a:srgbClr val="1F1F1F"/>
                </a:solidFill>
              </a:defRPr>
            </a:pPr>
            <a:r>
              <a:t>• Partnerships: Collaborate with pop-up market organizers and vendor associations</a:t>
            </a:r>
          </a:p>
          <a:p>
            <a:pPr>
              <a:spcBef>
                <a:spcPts val="600"/>
              </a:spcBef>
              <a:defRPr sz="1200">
                <a:solidFill>
                  <a:srgbClr val="1F1F1F"/>
                </a:solidFill>
              </a:defRPr>
            </a:pPr>
            <a:r>
              <a:t>• Word of Mouth: Referral program: 1 month free for successful referrals</a:t>
            </a:r>
          </a:p>
          <a:p>
            <a:pPr>
              <a:spcBef>
                <a:spcPts val="600"/>
              </a:spcBef>
              <a:defRPr sz="1200">
                <a:solidFill>
                  <a:srgbClr val="1F1F1F"/>
                </a:solidFill>
              </a:defRPr>
            </a:pPr>
            <a:r>
              <a:t>• Paid Ads: Google Ads &amp; Facebook targeting micro-retailers (Budget: €500-1,500/month)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2E5090"/>
                </a:solidFill>
              </a:defRPr>
            </a:pPr>
            <a:r>
              <a:t>StockFlow</a:t>
            </a:r>
          </a:p>
          <a:p>
            <a:pPr algn="ctr">
              <a:spcBef>
                <a:spcPts val="1200"/>
              </a:spcBef>
              <a:defRPr sz="2200">
                <a:solidFill>
                  <a:srgbClr val="1F1F1F"/>
                </a:solidFill>
              </a:defRPr>
            </a:pPr>
            <a:r>
              <a:t>Empowering Micro-Retailers with Effortless Inventory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3891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CAF50"/>
                </a:solidFill>
              </a:defRPr>
            </a:pPr>
            <a:r>
              <a:t>32 Beta Users  |  45 Interviews  |  €375K Year 3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E5090"/>
                </a:solidFill>
              </a:defRPr>
            </a:pPr>
            <a:r>
              <a:t>Contact</a:t>
            </a:r>
          </a:p>
          <a:p>
            <a:pPr algn="ctr">
              <a:spcBef>
                <a:spcPts val="800"/>
              </a:spcBef>
              <a:defRPr sz="1400">
                <a:solidFill>
                  <a:srgbClr val="1F1F1F"/>
                </a:solidFill>
              </a:defRPr>
            </a:pPr>
            <a:r>
              <a:t>github.com/Siddharthpatni/Digital_Inventory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